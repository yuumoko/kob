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317" r:id="rId6"/>
    <p:sldId id="260" r:id="rId7"/>
    <p:sldId id="321" r:id="rId8"/>
    <p:sldId id="322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261" r:id="rId17"/>
    <p:sldId id="262" r:id="rId18"/>
    <p:sldId id="283" r:id="rId19"/>
    <p:sldId id="301" r:id="rId20"/>
    <p:sldId id="267" r:id="rId21"/>
    <p:sldId id="310" r:id="rId22"/>
    <p:sldId id="302" r:id="rId23"/>
    <p:sldId id="348" r:id="rId24"/>
    <p:sldId id="349" r:id="rId25"/>
    <p:sldId id="350" r:id="rId26"/>
    <p:sldId id="307" r:id="rId27"/>
    <p:sldId id="308" r:id="rId28"/>
    <p:sldId id="309" r:id="rId29"/>
    <p:sldId id="279" r:id="rId30"/>
    <p:sldId id="263" r:id="rId31"/>
    <p:sldId id="320" r:id="rId32"/>
    <p:sldId id="280" r:id="rId33"/>
    <p:sldId id="319" r:id="rId34"/>
    <p:sldId id="281" r:id="rId35"/>
    <p:sldId id="282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357187" marR="0" indent="-357187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1pPr>
    <a:lvl2pPr marL="357187" marR="0" indent="-357187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2pPr>
    <a:lvl3pPr marL="357187" marR="0" indent="-357187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3pPr>
    <a:lvl4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4pPr>
    <a:lvl5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5pPr>
    <a:lvl6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6pPr>
    <a:lvl7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7pPr>
    <a:lvl8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8pPr>
    <a:lvl9pPr marL="725714" marR="0" indent="-408214" algn="l" defTabSz="821531" rtl="0" fontAlgn="auto" latinLnBrk="0" hangingPunct="0">
      <a:lnSpc>
        <a:spcPct val="110000"/>
      </a:lnSpc>
      <a:spcBef>
        <a:spcPts val="1600"/>
      </a:spcBef>
      <a:spcAft>
        <a:spcPts val="0"/>
      </a:spcAft>
      <a:buClr>
        <a:srgbClr val="404040"/>
      </a:buClr>
      <a:buSzPct val="75000"/>
      <a:buFontTx/>
      <a:buChar char="•"/>
      <a:tabLst/>
      <a:defRPr kumimoji="0" sz="3600" b="0" i="0" u="none" strike="noStrike" cap="none" spc="0" normalizeH="0" baseline="0">
        <a:ln>
          <a:noFill/>
        </a:ln>
        <a:solidFill>
          <a:srgbClr val="76B74B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Introduction" id="{69059516-9912-324E-A016-35AE33A3EBEA}">
          <p14:sldIdLst>
            <p14:sldId id="256"/>
            <p14:sldId id="257"/>
          </p14:sldIdLst>
        </p14:section>
        <p14:section name="Progress to-date" id="{40251BEC-901F-1D40-BE8A-9BDAFD2FCB82}">
          <p14:sldIdLst>
            <p14:sldId id="258"/>
            <p14:sldId id="259"/>
            <p14:sldId id="317"/>
            <p14:sldId id="260"/>
          </p14:sldIdLst>
        </p14:section>
        <p14:section name="AT3 Software Demonstration" id="{EA8C61E0-DA61-464A-A5D9-853B245CA440}">
          <p14:sldIdLst>
            <p14:sldId id="321"/>
            <p14:sldId id="322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AT4 Project Review Report" id="{A31E4C47-052E-3C43-BA8C-3C1D1DCC58F2}">
          <p14:sldIdLst>
            <p14:sldId id="261"/>
            <p14:sldId id="262"/>
            <p14:sldId id="283"/>
            <p14:sldId id="301"/>
            <p14:sldId id="267"/>
            <p14:sldId id="310"/>
            <p14:sldId id="302"/>
            <p14:sldId id="348"/>
            <p14:sldId id="349"/>
            <p14:sldId id="350"/>
            <p14:sldId id="307"/>
            <p14:sldId id="308"/>
            <p14:sldId id="309"/>
          </p14:sldIdLst>
        </p14:section>
        <p14:section name="AT3 and AT4 Assessment and Feedback" id="{0229E094-7878-4B46-B633-8849904CD794}">
          <p14:sldIdLst>
            <p14:sldId id="279"/>
            <p14:sldId id="263"/>
            <p14:sldId id="320"/>
            <p14:sldId id="280"/>
            <p14:sldId id="319"/>
            <p14:sldId id="281"/>
          </p14:sldIdLst>
        </p14:section>
        <p14:section name="Close" id="{CBEEB914-DEBC-A749-B16D-8B03DA89EF85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284AF"/>
    <a:srgbClr val="1294C5"/>
    <a:srgbClr val="19A4D9"/>
    <a:srgbClr val="004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4">
              <a:alpha val="0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127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4908F">
              <a:alpha val="64999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1E00">
              <a:alpha val="80000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2800">
              <a:alpha val="80000"/>
            </a:srgbClr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4">
              <a:alpha val="0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left>
          <a:right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right>
          <a:top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0A4A8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lastRow>
    <a:firstRow>
      <a:tcTxStyle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A0A4A8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Row>
  </a:tblStyle>
  <a:tblStyle styleId="{8F44A2F1-9E1F-4B54-A3A2-5F16C0AD49E2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/>
      <a:tcStyle>
        <a:tcBdr/>
        <a:fill>
          <a:solidFill>
            <a:srgbClr val="676164">
              <a:alpha val="0"/>
            </a:srgbClr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6301"/>
  </p:normalViewPr>
  <p:slideViewPr>
    <p:cSldViewPr snapToGrid="0">
      <p:cViewPr varScale="1">
        <p:scale>
          <a:sx n="61" d="100"/>
          <a:sy n="61" d="100"/>
        </p:scale>
        <p:origin x="6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George" userId="7d4be6d6-cf83-44c0-8d8d-b990e53fcf55" providerId="ADAL" clId="{85427996-1E9E-524B-95BA-F3176DCA6EAF}"/>
    <pc:docChg chg="modSld">
      <pc:chgData name="Moore, George" userId="7d4be6d6-cf83-44c0-8d8d-b990e53fcf55" providerId="ADAL" clId="{85427996-1E9E-524B-95BA-F3176DCA6EAF}" dt="2026-02-10T10:27:21.893" v="16" actId="6549"/>
      <pc:docMkLst>
        <pc:docMk/>
      </pc:docMkLst>
      <pc:sldChg chg="modSp mod">
        <pc:chgData name="Moore, George" userId="7d4be6d6-cf83-44c0-8d8d-b990e53fcf55" providerId="ADAL" clId="{85427996-1E9E-524B-95BA-F3176DCA6EAF}" dt="2026-02-10T10:27:21.893" v="16" actId="6549"/>
        <pc:sldMkLst>
          <pc:docMk/>
          <pc:sldMk cId="0" sldId="259"/>
        </pc:sldMkLst>
        <pc:spChg chg="mod">
          <ac:chgData name="Moore, George" userId="7d4be6d6-cf83-44c0-8d8d-b990e53fcf55" providerId="ADAL" clId="{85427996-1E9E-524B-95BA-F3176DCA6EAF}" dt="2026-02-10T10:27:21.893" v="16" actId="6549"/>
          <ac:spMkLst>
            <pc:docMk/>
            <pc:sldMk cId="0" sldId="259"/>
            <ac:spMk id="41" creationId="{00000000-0000-0000-0000-000000000000}"/>
          </ac:spMkLst>
        </pc:spChg>
      </pc:sldChg>
    </pc:docChg>
  </pc:docChgLst>
  <pc:docChgLst>
    <pc:chgData name="Moore, George" userId="7d4be6d6-cf83-44c0-8d8d-b990e53fcf55" providerId="ADAL" clId="{96468A9B-53F7-4BEA-965E-60C1BEA91B35}"/>
    <pc:docChg chg="modSld">
      <pc:chgData name="Moore, George" userId="7d4be6d6-cf83-44c0-8d8d-b990e53fcf55" providerId="ADAL" clId="{96468A9B-53F7-4BEA-965E-60C1BEA91B35}" dt="2026-02-09T09:04:23.800" v="0" actId="404"/>
      <pc:docMkLst>
        <pc:docMk/>
      </pc:docMkLst>
      <pc:sldChg chg="modSp mod">
        <pc:chgData name="Moore, George" userId="7d4be6d6-cf83-44c0-8d8d-b990e53fcf55" providerId="ADAL" clId="{96468A9B-53F7-4BEA-965E-60C1BEA91B35}" dt="2026-02-09T09:04:23.800" v="0" actId="404"/>
        <pc:sldMkLst>
          <pc:docMk/>
          <pc:sldMk cId="0" sldId="256"/>
        </pc:sldMkLst>
        <pc:spChg chg="mod">
          <ac:chgData name="Moore, George" userId="7d4be6d6-cf83-44c0-8d8d-b990e53fcf55" providerId="ADAL" clId="{96468A9B-53F7-4BEA-965E-60C1BEA91B35}" dt="2026-02-09T09:04:23.800" v="0" actId="404"/>
          <ac:spMkLst>
            <pc:docMk/>
            <pc:sldMk cId="0" sldId="256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" name="Shape 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2919" y="1964531"/>
            <a:ext cx="21838162" cy="3696892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292929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2919" y="5661422"/>
            <a:ext cx="21838162" cy="3696892"/>
          </a:xfrm>
          <a:prstGeom prst="rect">
            <a:avLst/>
          </a:prstGeom>
        </p:spPr>
        <p:txBody>
          <a:bodyPr anchor="t"/>
          <a:lstStyle>
            <a:lvl1pPr marL="0" indent="0">
              <a:buClr>
                <a:srgbClr val="404040"/>
              </a:buClr>
              <a:buSzTx/>
              <a:buNone/>
              <a:defRPr sz="3600">
                <a:solidFill>
                  <a:srgbClr val="292929"/>
                </a:solidFill>
              </a:defRPr>
            </a:lvl1pPr>
            <a:lvl2pPr marL="0" indent="0">
              <a:buClr>
                <a:srgbClr val="E6E6E6"/>
              </a:buClr>
              <a:buSzTx/>
              <a:buNone/>
              <a:defRPr sz="3600">
                <a:solidFill>
                  <a:srgbClr val="555453"/>
                </a:solidFill>
              </a:defRPr>
            </a:lvl2pPr>
            <a:lvl3pPr marL="0" indent="0">
              <a:buClr>
                <a:srgbClr val="E6E6E6"/>
              </a:buClr>
              <a:buSzTx/>
              <a:buNone/>
              <a:defRPr sz="3600">
                <a:solidFill>
                  <a:srgbClr val="767474"/>
                </a:solidFill>
              </a:defRPr>
            </a:lvl3pPr>
            <a:lvl4pPr marL="1121228" indent="-435428">
              <a:buClr>
                <a:srgbClr val="755B7B"/>
              </a:buClr>
              <a:buSzPct val="100000"/>
              <a:defRPr sz="2400">
                <a:solidFill>
                  <a:srgbClr val="555453"/>
                </a:solidFill>
              </a:defRPr>
            </a:lvl4pPr>
            <a:lvl5pPr marL="1121228" indent="-435428">
              <a:buClr>
                <a:srgbClr val="AA9AAF"/>
              </a:buClr>
              <a:buSzPct val="100000"/>
              <a:defRPr sz="2400">
                <a:solidFill>
                  <a:srgbClr val="76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266129" y="535781"/>
            <a:ext cx="21851742" cy="115193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3578" tIns="53578" rIns="53578" bIns="5357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83989" y="2303859"/>
            <a:ext cx="21851741" cy="1087636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3578" tIns="53578" rIns="53578" bIns="53578" anchor="ctr">
            <a:normAutofit/>
          </a:bodyPr>
          <a:lstStyle>
            <a:lvl2pPr marL="734218">
              <a:buClr>
                <a:srgbClr val="B2B1B2"/>
              </a:buClr>
              <a:defRPr>
                <a:solidFill>
                  <a:srgbClr val="D0CFCF"/>
                </a:solidFill>
              </a:defRPr>
            </a:lvl2pPr>
            <a:lvl3pPr marL="734218">
              <a:buClr>
                <a:srgbClr val="B2B1B2"/>
              </a:buClr>
              <a:defRPr>
                <a:solidFill>
                  <a:srgbClr val="B2B1B2"/>
                </a:solidFill>
              </a:defRPr>
            </a:lvl3pPr>
            <a:lvl4pPr marL="1043214" indent="-408214">
              <a:buClr>
                <a:srgbClr val="D0CFCF"/>
              </a:buClr>
              <a:defRPr sz="3600">
                <a:solidFill>
                  <a:srgbClr val="D0CFCF"/>
                </a:solidFill>
              </a:defRPr>
            </a:lvl4pPr>
            <a:lvl5pPr marL="1043214" indent="-408214">
              <a:buClr>
                <a:srgbClr val="B2B1B2"/>
              </a:buClr>
              <a:defRPr sz="3600">
                <a:solidFill>
                  <a:srgbClr val="B2B1B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8539057" y="11532691"/>
            <a:ext cx="345816" cy="342563"/>
          </a:xfrm>
          <a:prstGeom prst="rect">
            <a:avLst/>
          </a:prstGeom>
          <a:ln w="3175">
            <a:miter lim="400000"/>
          </a:ln>
        </p:spPr>
        <p:txBody>
          <a:bodyPr wrap="none" lIns="53578" tIns="53578" rIns="53578" bIns="53578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600" b="1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64628" marR="0" indent="-364628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1pPr>
      <a:lvl2pPr marL="416718" marR="0" indent="-416718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2pPr>
      <a:lvl3pPr marL="416718" marR="0" indent="-416718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3pPr>
      <a:lvl4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4pPr>
      <a:lvl5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5pPr>
      <a:lvl6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6pPr>
      <a:lvl7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7pPr>
      <a:lvl8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8pPr>
      <a:lvl9pPr marL="793750" marR="0" indent="-476250" algn="l" defTabSz="821531" latinLnBrk="0">
        <a:lnSpc>
          <a:spcPct val="110000"/>
        </a:lnSpc>
        <a:spcBef>
          <a:spcPts val="1600"/>
        </a:spcBef>
        <a:spcAft>
          <a:spcPts val="0"/>
        </a:spcAft>
        <a:buClr>
          <a:srgbClr val="ECECEC"/>
        </a:buClr>
        <a:buSzPct val="75000"/>
        <a:buFontTx/>
        <a:buChar char="•"/>
        <a:tabLst/>
        <a:defRPr sz="4200" b="0" i="0" u="none" strike="noStrike" cap="none" spc="0" baseline="0">
          <a:solidFill>
            <a:srgbClr val="ECECEC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M668 Assessment Overview - AT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8400"/>
            </a:lvl1pPr>
          </a:lstStyle>
          <a:p>
            <a:r>
              <a:rPr lang="en-GB" sz="8000" dirty="0">
                <a:solidFill>
                  <a:schemeClr val="bg1">
                    <a:lumMod val="10000"/>
                  </a:schemeClr>
                </a:solidFill>
              </a:rPr>
              <a:t>COM668 Assessment Overview – AT3 &amp; AT4</a:t>
            </a:r>
            <a:endParaRPr sz="80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2" name="Guidance and assessmen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Software Demonstration video and Project Review report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erview - AT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5" name="Progress to-dat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Progress to-date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AT3 Software Demonstration video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AT4 Project Review report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Assessment and Feedback</a:t>
            </a: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You are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solidFill>
                  <a:schemeClr val="bg1">
                    <a:lumMod val="10000"/>
                  </a:schemeClr>
                </a:solidFill>
              </a:rPr>
              <a:t>You are here</a:t>
            </a:r>
          </a:p>
        </p:txBody>
      </p:sp>
      <p:sp>
        <p:nvSpPr>
          <p:cNvPr id="38" name="A quick look over your shoulder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>
                <a:solidFill>
                  <a:schemeClr val="bg1">
                    <a:lumMod val="10000"/>
                  </a:schemeClr>
                </a:solidFill>
              </a:rPr>
              <a:t>A quick look over your shoulder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rogress to-da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>
                <a:solidFill>
                  <a:srgbClr val="FFFFFF"/>
                </a:solidFill>
              </a:rPr>
              <a:t>Progress to-date</a:t>
            </a:r>
          </a:p>
        </p:txBody>
      </p:sp>
      <p:sp>
        <p:nvSpPr>
          <p:cNvPr id="41" name="AT1 Project proposal agreed and approv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FF00"/>
              </a:buClr>
              <a:buChar char="✓"/>
            </a:pPr>
            <a:r>
              <a:rPr dirty="0">
                <a:solidFill>
                  <a:srgbClr val="FFFFFF"/>
                </a:solidFill>
              </a:rPr>
              <a:t>AT1 Project proposal agreed and approved</a:t>
            </a:r>
          </a:p>
          <a:p>
            <a:pPr>
              <a:lnSpc>
                <a:spcPct val="150000"/>
              </a:lnSpc>
              <a:buClr>
                <a:srgbClr val="00FF00"/>
              </a:buClr>
              <a:buChar char="✓"/>
            </a:pPr>
            <a:r>
              <a:rPr dirty="0">
                <a:solidFill>
                  <a:srgbClr val="FFFFFF"/>
                </a:solidFill>
              </a:rPr>
              <a:t>Agreed proposal submitted</a:t>
            </a:r>
          </a:p>
          <a:p>
            <a:pPr>
              <a:lnSpc>
                <a:spcPct val="150000"/>
              </a:lnSpc>
              <a:buClr>
                <a:srgbClr val="00FF00"/>
              </a:buClr>
              <a:buChar char="✓"/>
            </a:pPr>
            <a:r>
              <a:rPr dirty="0">
                <a:solidFill>
                  <a:srgbClr val="FFFFFF"/>
                </a:solidFill>
              </a:rPr>
              <a:t>BCS check</a:t>
            </a:r>
            <a:r>
              <a:rPr lang="en-GB" dirty="0">
                <a:solidFill>
                  <a:srgbClr val="FFFFFF"/>
                </a:solidFill>
              </a:rPr>
              <a:t>s met</a:t>
            </a:r>
            <a:endParaRPr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buClr>
                <a:srgbClr val="00FF00"/>
              </a:buClr>
              <a:buChar char="✓"/>
            </a:pPr>
            <a:r>
              <a:rPr dirty="0">
                <a:solidFill>
                  <a:srgbClr val="FFFFFF"/>
                </a:solidFill>
              </a:rPr>
              <a:t>Ethics </a:t>
            </a:r>
            <a:r>
              <a:rPr lang="en-GB" dirty="0">
                <a:solidFill>
                  <a:srgbClr val="FFFFFF"/>
                </a:solidFill>
              </a:rPr>
              <a:t>approval obtained</a:t>
            </a:r>
            <a:endParaRPr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buClr>
                <a:srgbClr val="00FF00"/>
              </a:buClr>
              <a:buFontTx/>
              <a:buChar char="✓"/>
            </a:pPr>
            <a:r>
              <a:rPr>
                <a:solidFill>
                  <a:srgbClr val="FFFFFF"/>
                </a:solidFill>
              </a:rPr>
              <a:t>AT2 </a:t>
            </a:r>
            <a:r>
              <a:rPr lang="en-GB">
                <a:solidFill>
                  <a:srgbClr val="FFFFFF"/>
                </a:solidFill>
              </a:rPr>
              <a:t>completed</a:t>
            </a: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buClr>
                <a:srgbClr val="FFC000"/>
              </a:buClr>
              <a:buChar char="✓"/>
            </a:pPr>
            <a:r>
              <a:rPr lang="en-GB" dirty="0">
                <a:solidFill>
                  <a:srgbClr val="FFFFFF"/>
                </a:solidFill>
              </a:rPr>
              <a:t>AT3 coding in progress for product to be demonstrated</a:t>
            </a:r>
          </a:p>
          <a:p>
            <a:pPr>
              <a:lnSpc>
                <a:spcPct val="150000"/>
              </a:lnSpc>
              <a:buClr>
                <a:srgbClr val="FFC000"/>
              </a:buClr>
              <a:buChar char="✓"/>
            </a:pPr>
            <a:r>
              <a:rPr lang="en-GB" dirty="0">
                <a:solidFill>
                  <a:srgbClr val="FFFFFF"/>
                </a:solidFill>
              </a:rPr>
              <a:t>AT4 gathering evidence and other material to assist with report writing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4A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0CD4C-3728-B6C1-19EC-11672B05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Important note regarding maximum word counts">
            <a:extLst>
              <a:ext uri="{FF2B5EF4-FFF2-40B4-BE49-F238E27FC236}">
                <a16:creationId xmlns:a16="http://schemas.microsoft.com/office/drawing/2014/main" id="{BF1FA9D8-D7EB-A689-BF04-C721B5071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324504">
              <a:defRPr sz="3476">
                <a:solidFill>
                  <a:srgbClr val="292929"/>
                </a:solidFill>
              </a:defRPr>
            </a:lvl1pPr>
          </a:lstStyle>
          <a:p>
            <a:r>
              <a:rPr sz="6300" dirty="0">
                <a:solidFill>
                  <a:srgbClr val="FFFFFF"/>
                </a:solidFill>
              </a:rPr>
              <a:t>Important note regarding </a:t>
            </a:r>
            <a:r>
              <a:rPr lang="en-GB" sz="6300" dirty="0">
                <a:solidFill>
                  <a:srgbClr val="FFFFFF"/>
                </a:solidFill>
              </a:rPr>
              <a:t>changes to project</a:t>
            </a:r>
            <a:endParaRPr sz="6300" dirty="0">
              <a:solidFill>
                <a:srgbClr val="FFFFFF"/>
              </a:solidFill>
            </a:endParaRPr>
          </a:p>
        </p:txBody>
      </p:sp>
      <p:sp>
        <p:nvSpPr>
          <p:cNvPr id="167" name="Ulster University has updated its policy on maximum word counts…">
            <a:extLst>
              <a:ext uri="{FF2B5EF4-FFF2-40B4-BE49-F238E27FC236}">
                <a16:creationId xmlns:a16="http://schemas.microsoft.com/office/drawing/2014/main" id="{43D0ED27-1934-5FDE-1888-88FFF7191B54}"/>
              </a:ext>
            </a:extLst>
          </p:cNvPr>
          <p:cNvSpPr txBox="1"/>
          <p:nvPr/>
        </p:nvSpPr>
        <p:spPr>
          <a:xfrm>
            <a:off x="1222229" y="2303371"/>
            <a:ext cx="21851742" cy="10877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3578" tIns="53578" rIns="53578" bIns="53578"/>
          <a:lstStyle/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Your project idea and intentions have probably evolved since the first semester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Perhaps due to a better understanding of what is feasible given the time available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Maybe due to emerging external constraints acting on what can be achieved, or how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Possibly the nature of the technical challenge has necessitated a change of goal</a:t>
            </a: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Remember, minor changes are acceptable but significant changes need to be discussed</a:t>
            </a: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Any significant deviation from the approved proposal must have fresh approval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This might include a new set of approval checks, e.g. a new ethics application 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As such, significant changes can delay your progress</a:t>
            </a: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You must check all deviations with your Mentor to ensure they are acceptable</a:t>
            </a:r>
            <a:endParaRPr sz="4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6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ontinued progr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>
                <a:solidFill>
                  <a:srgbClr val="FFFFFF"/>
                </a:solidFill>
              </a:rPr>
              <a:t>Continued progress</a:t>
            </a:r>
          </a:p>
        </p:txBody>
      </p:sp>
      <p:sp>
        <p:nvSpPr>
          <p:cNvPr id="44" name="You are expected to continue to progress your project working a well managed mann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You are expected to continue to progress your project working a well managed manner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Refer to the handbook for details of what is required, including a suggested pace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Review the guidance lecture videos and slides for further support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Discuss your project with your mentor, in group and individual meetings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1280-564E-79D2-A162-F656FEF2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T2 Challenge Definition Report">
            <a:extLst>
              <a:ext uri="{FF2B5EF4-FFF2-40B4-BE49-F238E27FC236}">
                <a16:creationId xmlns:a16="http://schemas.microsoft.com/office/drawing/2014/main" id="{8BBC1DAD-B03B-90BD-3CB2-4E81E95E9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AT3 Software Demonstration Video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7" name="Concept, research, methodology, requirements and risk">
            <a:extLst>
              <a:ext uri="{FF2B5EF4-FFF2-40B4-BE49-F238E27FC236}">
                <a16:creationId xmlns:a16="http://schemas.microsoft.com/office/drawing/2014/main" id="{6BFCB2BE-7BAC-2E76-0A05-4C6DFE7B7EA6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Purpose, content and structure, and format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127588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494F-9447-0BAA-A396-6877DE8A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60D01CFD-3ED1-E185-43F8-89F49F1D2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AT</a:t>
            </a:r>
            <a:r>
              <a:rPr lang="en-GB" dirty="0">
                <a:solidFill>
                  <a:srgbClr val="FFFFFF"/>
                </a:solidFill>
              </a:rPr>
              <a:t>3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lang="en-GB" dirty="0">
                <a:solidFill>
                  <a:srgbClr val="FFFFFF"/>
                </a:solidFill>
              </a:rPr>
              <a:t>Software Demonstration Video –</a:t>
            </a:r>
            <a:r>
              <a:rPr dirty="0">
                <a:solidFill>
                  <a:srgbClr val="FFFFFF"/>
                </a:solidFill>
              </a:rPr>
              <a:t> Purpose</a:t>
            </a: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2B2D2C24-E37A-1524-7B5F-513FB9B56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AT3 is a demonstration of the software your produced during the project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Evidences that you have met a significant technical challenge	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Demonstrate major functionality of your software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It also evidences your understanding and ownership of the underlying code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Evidence of your learning to-date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The handbook and your Mentor can provide guidance conducting a good demonstration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430791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C017-9590-78E5-7796-8FFF7B6E1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A8E5439D-CC4B-7436-C2B1-576A1FE6C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Video – Content and Structure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3F014757-D1A8-762D-F364-297CF6CDA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Software demonstration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Code walkthrough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03017754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6A56-93FF-516F-A4B3-151AE3E0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3183EBAC-DED6-E2FA-E8E6-A7A35529F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Introduction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F796E6BF-9AE7-F392-9E80-C58A1EDCB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State you name and course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State the aim of your project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Overview the degree to which the aim was met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4225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0387F-8A68-5616-A266-2C20555C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0F270EF0-8F8D-F1B3-EA45-AE006AEB97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Software Demonstration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02B354B9-57AA-557F-9E2D-641B014F7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Run the software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Demonstrate the major features of the software 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Evidence the completeness of each feature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Evidence correct operation of each feature, including effects on the underlying data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Evidence robustness of each feature, using boundary inputs and interactions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Discuss the evidence as you go 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Provide insight into the operation of the software</a:t>
            </a:r>
          </a:p>
          <a:p>
            <a:pPr lvl="0">
              <a:lnSpc>
                <a:spcPct val="100000"/>
              </a:lnSpc>
            </a:pPr>
            <a:r>
              <a:rPr lang="en-GB" dirty="0">
                <a:solidFill>
                  <a:srgbClr val="FFFFFF"/>
                </a:solidFill>
              </a:rPr>
              <a:t>You can verbally refer to your reports as needed but 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FFFFFF"/>
                </a:solidFill>
              </a:rPr>
              <a:t>Please do not show use any slides to present information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solidFill>
                  <a:srgbClr val="FFFFFF"/>
                </a:solidFill>
              </a:rPr>
              <a:t>The focus must be on the software’s operation</a:t>
            </a:r>
          </a:p>
          <a:p>
            <a:pPr marL="0" indent="0">
              <a:lnSpc>
                <a:spcPct val="150000"/>
              </a:lnSpc>
              <a:buNone/>
            </a:pP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92800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3BEF-768C-7E2B-5108-A82C7324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CF59831C-04C1-1DEF-55D8-E5E377B87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Code Walkthrough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ADFC9740-E50A-B1A9-773A-4F2FC9F93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sz="4400" dirty="0">
                <a:solidFill>
                  <a:srgbClr val="FFFFFF"/>
                </a:solidFill>
              </a:rPr>
              <a:t>Evidence your application of key computing concepts</a:t>
            </a:r>
            <a:endParaRPr lang="en-GB" sz="4800" dirty="0">
              <a:solidFill>
                <a:srgbClr val="FFFFFF"/>
              </a:solidFill>
            </a:endParaRPr>
          </a:p>
          <a:p>
            <a:pPr lvl="0"/>
            <a:r>
              <a:rPr lang="en-GB" sz="4400" dirty="0">
                <a:solidFill>
                  <a:srgbClr val="FFFFFF"/>
                </a:solidFill>
              </a:rPr>
              <a:t>Overview the code, mentioning significant metrics, </a:t>
            </a:r>
          </a:p>
          <a:p>
            <a:pPr lvl="1"/>
            <a:r>
              <a:rPr lang="en-GB" sz="4400" dirty="0">
                <a:solidFill>
                  <a:srgbClr val="FFFFFF"/>
                </a:solidFill>
              </a:rPr>
              <a:t>e.g.  lines of code, number of functions etc.</a:t>
            </a:r>
            <a:endParaRPr lang="en-GB" sz="4800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GB" sz="4400" dirty="0">
                <a:solidFill>
                  <a:srgbClr val="FFFFFF"/>
                </a:solidFill>
              </a:rPr>
              <a:t>Describe the tools used and the roles they play at a high-level</a:t>
            </a:r>
            <a:endParaRPr lang="en-GB" sz="4800" dirty="0">
              <a:solidFill>
                <a:srgbClr val="FFFFFF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Evidence your detailed understanding and ownership of the underlying source code</a:t>
            </a:r>
            <a:endParaRPr lang="en-GB" sz="4800" dirty="0">
              <a:solidFill>
                <a:srgbClr val="FFFF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Show knowledge of the structure and function of the code</a:t>
            </a:r>
            <a:endParaRPr lang="en-GB" sz="4800" dirty="0">
              <a:solidFill>
                <a:srgbClr val="FFFF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Display understanding of program code at a low-level</a:t>
            </a:r>
            <a:endParaRPr lang="en-GB" sz="4800" dirty="0">
              <a:solidFill>
                <a:srgbClr val="FFFF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Highlight the significant challenges and achievements</a:t>
            </a:r>
            <a:endParaRPr lang="en-GB" sz="4800" dirty="0">
              <a:solidFill>
                <a:srgbClr val="FFFF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Discuss example of important aspects, e.g. security and error handling</a:t>
            </a:r>
            <a:endParaRPr lang="en-GB" sz="4800" dirty="0">
              <a:solidFill>
                <a:srgbClr val="FFFF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GB" sz="4400" dirty="0">
                <a:solidFill>
                  <a:srgbClr val="FFFFFF"/>
                </a:solidFill>
              </a:rPr>
              <a:t>Discuss any issues encountered and how you resolved them</a:t>
            </a:r>
            <a:endParaRPr lang="en-GB" sz="48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93424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28DB-3B92-83A7-947B-7CA4BE96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1A929367-10F5-E1C0-1ECD-FA075B8CB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Conclusion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F49C6787-32E8-D8F2-A37E-EEE141D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Review how successful the work was at meeting the aim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Review your main achievements</a:t>
            </a: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Note anything you feel it is important to mention</a:t>
            </a:r>
          </a:p>
        </p:txBody>
      </p:sp>
    </p:spTree>
    <p:extLst>
      <p:ext uri="{BB962C8B-B14F-4D97-AF65-F5344CB8AC3E}">
        <p14:creationId xmlns:p14="http://schemas.microsoft.com/office/powerpoint/2010/main" val="173933944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ACB0-F376-51C2-2DEC-D283D642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CE84D2CA-1733-CF90-30FD-5E6535E65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AT3 Video Format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F69D9053-611A-654A-B336-460CB6BA8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The format of the video must be in keeping with the guidance provided 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The video must be presented in a manner that allows assessment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Important audio requirements</a:t>
            </a:r>
          </a:p>
          <a:p>
            <a:pPr lvl="1"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You must provide commentary in English using your own natural voice</a:t>
            </a:r>
          </a:p>
          <a:p>
            <a:pPr lvl="1"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You must not use an artificially generated voice (unless you have a RAR)</a:t>
            </a:r>
          </a:p>
          <a:p>
            <a:pPr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Important video requirements</a:t>
            </a:r>
          </a:p>
          <a:p>
            <a:pPr lvl="1"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You must include a video overlay in one corner that shows you presenting the work</a:t>
            </a:r>
          </a:p>
          <a:p>
            <a:pPr lvl="1"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You must be clearly identifiable, and it must be obvious that you are presenting the work</a:t>
            </a:r>
          </a:p>
          <a:p>
            <a:pPr lvl="1">
              <a:lnSpc>
                <a:spcPct val="100000"/>
              </a:lnSpc>
            </a:pPr>
            <a:r>
              <a:rPr lang="en-GB" i="1" dirty="0">
                <a:solidFill>
                  <a:srgbClr val="FFFFFF"/>
                </a:solidFill>
              </a:rPr>
              <a:t>Take care that this insert does not obscure any of the material being demonstrated </a:t>
            </a: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160000"/>
              </a:lnSpc>
            </a:pPr>
            <a:r>
              <a:rPr lang="en-GB" dirty="0">
                <a:solidFill>
                  <a:srgbClr val="FFFFFF"/>
                </a:solidFill>
              </a:rPr>
              <a:t>Do not speed the video to make it fit the duration, this shows poor communications</a:t>
            </a:r>
          </a:p>
          <a:p>
            <a:pPr>
              <a:lnSpc>
                <a:spcPct val="160000"/>
              </a:lnSpc>
            </a:pPr>
            <a:r>
              <a:rPr lang="en-GB" dirty="0">
                <a:solidFill>
                  <a:srgbClr val="FFFFFF"/>
                </a:solidFill>
              </a:rPr>
              <a:t>Please see the associated handbook sections for further guidance</a:t>
            </a:r>
          </a:p>
          <a:p>
            <a:pPr marL="317500" lvl="1" indent="0">
              <a:lnSpc>
                <a:spcPct val="100000"/>
              </a:lnSpc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109016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73AF-1A1F-CBAE-B957-5B99E92AE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>
            <a:extLst>
              <a:ext uri="{FF2B5EF4-FFF2-40B4-BE49-F238E27FC236}">
                <a16:creationId xmlns:a16="http://schemas.microsoft.com/office/drawing/2014/main" id="{8C5897FB-DD16-2899-49FE-07072D559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Source Code Submission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0" name="Assessment Task 2 (AT2) results in a technical report that documents…">
            <a:extLst>
              <a:ext uri="{FF2B5EF4-FFF2-40B4-BE49-F238E27FC236}">
                <a16:creationId xmlns:a16="http://schemas.microsoft.com/office/drawing/2014/main" id="{4B6E0B2B-0D8C-2CD2-B93E-DA660F6AE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Submit all source files that you created or modified</a:t>
            </a:r>
          </a:p>
          <a:p>
            <a:r>
              <a:rPr lang="en-US" dirty="0">
                <a:solidFill>
                  <a:srgbClr val="FFFFFF"/>
                </a:solidFill>
              </a:rPr>
              <a:t>You are expected to submit all source code that will later be noted in the Code Manifest</a:t>
            </a:r>
          </a:p>
          <a:p>
            <a:r>
              <a:rPr lang="en-GB" dirty="0">
                <a:solidFill>
                  <a:srgbClr val="FFFFFF"/>
                </a:solidFill>
              </a:rPr>
              <a:t>Ensure ownership of code is clearly indicated in comments</a:t>
            </a:r>
          </a:p>
          <a:p>
            <a:r>
              <a:rPr lang="en-GB" dirty="0">
                <a:solidFill>
                  <a:srgbClr val="FFFFFF"/>
                </a:solidFill>
              </a:rPr>
              <a:t>If any code was generated using AI then this must be highlighted</a:t>
            </a:r>
          </a:p>
          <a:p>
            <a:r>
              <a:rPr lang="en-GB" dirty="0">
                <a:solidFill>
                  <a:srgbClr val="FFFFFF"/>
                </a:solidFill>
              </a:rPr>
              <a:t>Submit the code as a single zip file, using the Blackboard link provided</a:t>
            </a:r>
          </a:p>
          <a:p>
            <a:r>
              <a:rPr lang="en-GB" dirty="0">
                <a:solidFill>
                  <a:srgbClr val="FFFFFF"/>
                </a:solidFill>
              </a:rPr>
              <a:t>Keep the source code files in their original formats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The code will be used to help examiners clarify content mentioned in other submissions</a:t>
            </a:r>
          </a:p>
          <a:p>
            <a:r>
              <a:rPr lang="en-US" dirty="0">
                <a:solidFill>
                  <a:srgbClr val="FFFFFF"/>
                </a:solidFill>
              </a:rPr>
              <a:t>Failure to supply the source code can impact the assessment of your project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61465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T2 Challenge Definition Repor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chemeClr val="bg1">
                    <a:lumMod val="10000"/>
                  </a:schemeClr>
                </a:solidFill>
              </a:rPr>
              <a:t>AT</a:t>
            </a:r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4 Project Review Report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7" name="Concept, research, methodology, requirements and risk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Purpose, content and structure, and format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T2 report - Purpo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AT</a:t>
            </a:r>
            <a:r>
              <a:rPr lang="en-GB" dirty="0">
                <a:solidFill>
                  <a:srgbClr val="FFFFFF"/>
                </a:solidFill>
              </a:rPr>
              <a:t>4 R</a:t>
            </a:r>
            <a:r>
              <a:rPr dirty="0" err="1">
                <a:solidFill>
                  <a:srgbClr val="FFFFFF"/>
                </a:solidFill>
              </a:rPr>
              <a:t>eport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lang="en-GB" dirty="0">
                <a:solidFill>
                  <a:srgbClr val="FFFFFF"/>
                </a:solidFill>
              </a:rPr>
              <a:t>–</a:t>
            </a:r>
            <a:r>
              <a:rPr dirty="0">
                <a:solidFill>
                  <a:srgbClr val="FFFFFF"/>
                </a:solidFill>
              </a:rPr>
              <a:t> Purpose</a:t>
            </a:r>
          </a:p>
        </p:txBody>
      </p:sp>
      <p:sp>
        <p:nvSpPr>
          <p:cNvPr id="50" name="Assessment Task 2 (AT2) results in a technical report that documen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Assessment Task 4 (AT4) results in a technical report that details and discusses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Work undertaken during the project and the resulting outcomes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Details the design of the product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Reviews the software implementation plan, process, practice and tools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Details how verification, validation and testing were applied during the project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Evaluates the project outcomes, process and plan</a:t>
            </a:r>
          </a:p>
          <a:p>
            <a:pPr lvl="1"/>
            <a:r>
              <a:rPr lang="en-GB" dirty="0">
                <a:solidFill>
                  <a:srgbClr val="FFFFFF"/>
                </a:solidFill>
              </a:rPr>
              <a:t>Reflect on your learning during the project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This lecture is a guide to a typical AT</a:t>
            </a:r>
            <a:r>
              <a:rPr lang="en-GB" dirty="0">
                <a:solidFill>
                  <a:srgbClr val="FFFFFF"/>
                </a:solidFill>
              </a:rPr>
              <a:t>4 Project Review </a:t>
            </a:r>
            <a:r>
              <a:rPr dirty="0">
                <a:solidFill>
                  <a:srgbClr val="FFFFFF"/>
                </a:solidFill>
              </a:rPr>
              <a:t>report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You might want to adapt this to your specific project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Your Mentor will be able to guide you further about how to do so</a:t>
            </a: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EBF2-3FDE-06AB-BEDB-C05EBA17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CFB3CEBA-C6C7-7637-50ED-EB9634B57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Report Content and Structure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3" name="Describe the agreed concept…">
            <a:extLst>
              <a:ext uri="{FF2B5EF4-FFF2-40B4-BE49-F238E27FC236}">
                <a16:creationId xmlns:a16="http://schemas.microsoft.com/office/drawing/2014/main" id="{04A111BF-71EB-9B70-4ACC-1AE816718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Title page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Contents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Software Realisation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Quality Assurance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Critical Appraisal 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References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FF"/>
                </a:solidFill>
              </a:rPr>
              <a:t>Appendices (including required </a:t>
            </a:r>
            <a:r>
              <a:rPr lang="en-GB" i="1" dirty="0">
                <a:solidFill>
                  <a:srgbClr val="FFFFFF"/>
                </a:solidFill>
              </a:rPr>
              <a:t>Code Manifest</a:t>
            </a:r>
            <a:r>
              <a:rPr lang="en-GB" dirty="0">
                <a:solidFill>
                  <a:srgbClr val="FFFF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0058328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B441-F9AB-CA61-411D-0F500017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E1404CF1-97AF-CF59-5BDE-B93310528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Title Page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2FF08-96B9-A939-EF14-72E391B8F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Project title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Student name 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Student ID number (B00…)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Course Title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Year of submission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PSG identifier (PSG-…)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Mentor name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Word count, self declared by the student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Student Declaration of Ownership</a:t>
            </a:r>
          </a:p>
        </p:txBody>
      </p:sp>
    </p:spTree>
    <p:extLst>
      <p:ext uri="{BB962C8B-B14F-4D97-AF65-F5344CB8AC3E}">
        <p14:creationId xmlns:p14="http://schemas.microsoft.com/office/powerpoint/2010/main" val="3301314965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Important note regarding maximum word cou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24504">
              <a:defRPr sz="3476">
                <a:solidFill>
                  <a:srgbClr val="292929"/>
                </a:solidFill>
              </a:defRPr>
            </a:lvl1pPr>
          </a:lstStyle>
          <a:p>
            <a:r>
              <a:rPr sz="6300" dirty="0">
                <a:solidFill>
                  <a:srgbClr val="FFFFFF"/>
                </a:solidFill>
              </a:rPr>
              <a:t>Important note regarding maximum word counts</a:t>
            </a:r>
          </a:p>
        </p:txBody>
      </p:sp>
      <p:sp>
        <p:nvSpPr>
          <p:cNvPr id="167" name="Ulster University has updated its policy on maximum word counts…"/>
          <p:cNvSpPr txBox="1"/>
          <p:nvPr/>
        </p:nvSpPr>
        <p:spPr>
          <a:xfrm>
            <a:off x="1222229" y="2303371"/>
            <a:ext cx="21851742" cy="10877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3578" tIns="53578" rIns="53578" bIns="53578"/>
          <a:lstStyle/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Ulster University has updated its policy on maximum word counts</a:t>
            </a:r>
          </a:p>
          <a:p>
            <a:pPr marL="1088570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Students must self declared the word count for a submission</a:t>
            </a:r>
          </a:p>
          <a:p>
            <a:pPr marL="1088570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Work under the word limit is less likely to fully meet assessment criteria</a:t>
            </a:r>
          </a:p>
          <a:p>
            <a:pPr marL="1088570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There is flexibility up to 10% over the stated maximum word limit</a:t>
            </a:r>
          </a:p>
          <a:p>
            <a:pPr marL="1088570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Work will only be considered and marked up to that point</a:t>
            </a:r>
          </a:p>
          <a:p>
            <a:pPr marL="1088570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A falsified word count may be considered as academic misconduct</a:t>
            </a: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During COM668, the maximum word counts exclude:</a:t>
            </a:r>
            <a:endParaRPr lang="en-GB" sz="4200" dirty="0">
              <a:solidFill>
                <a:srgbClr val="FFFFFF"/>
              </a:solidFill>
            </a:endParaRP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Title page</a:t>
            </a:r>
            <a:r>
              <a:rPr lang="en-GB" sz="4200" dirty="0">
                <a:solidFill>
                  <a:srgbClr val="FFFFFF"/>
                </a:solidFill>
              </a:rPr>
              <a:t>, </a:t>
            </a:r>
            <a:r>
              <a:rPr sz="4200" dirty="0">
                <a:solidFill>
                  <a:srgbClr val="FFFFFF"/>
                </a:solidFill>
              </a:rPr>
              <a:t>Contents</a:t>
            </a:r>
            <a:r>
              <a:rPr lang="en-GB" sz="4200" dirty="0">
                <a:solidFill>
                  <a:srgbClr val="FFFFFF"/>
                </a:solidFill>
              </a:rPr>
              <a:t>, </a:t>
            </a:r>
            <a:r>
              <a:rPr sz="4200" dirty="0">
                <a:solidFill>
                  <a:srgbClr val="FFFFFF"/>
                </a:solidFill>
              </a:rPr>
              <a:t>Reference lists</a:t>
            </a:r>
            <a:r>
              <a:rPr lang="en-GB" sz="4200" dirty="0">
                <a:solidFill>
                  <a:srgbClr val="FFFFFF"/>
                </a:solidFill>
              </a:rPr>
              <a:t>, Tables, Appendices </a:t>
            </a:r>
          </a:p>
          <a:p>
            <a:pPr marL="453570" lvl="2" indent="-453570" defTabSz="821530">
              <a:lnSpc>
                <a:spcPct val="15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Everything else counts towards the word count</a:t>
            </a:r>
            <a:endParaRPr lang="en-GB" sz="4200" dirty="0">
              <a:solidFill>
                <a:srgbClr val="FFFFFF"/>
              </a:solidFill>
            </a:endParaRP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453570" lvl="2" indent="-453570" defTabSz="821530">
              <a:lnSpc>
                <a:spcPct val="15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Further guidance on word counts is available in the </a:t>
            </a:r>
            <a:r>
              <a:rPr lang="en-GB" sz="4200" dirty="0">
                <a:solidFill>
                  <a:srgbClr val="FFFFFF"/>
                </a:solidFill>
              </a:rPr>
              <a:t>h</a:t>
            </a:r>
            <a:r>
              <a:rPr sz="4200" dirty="0" err="1">
                <a:solidFill>
                  <a:srgbClr val="FFFFFF"/>
                </a:solidFill>
              </a:rPr>
              <a:t>andbook</a:t>
            </a:r>
            <a:endParaRPr sz="4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4A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55C25-29D3-D07A-9A77-3679A478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Important note regarding maximum word counts">
            <a:extLst>
              <a:ext uri="{FF2B5EF4-FFF2-40B4-BE49-F238E27FC236}">
                <a16:creationId xmlns:a16="http://schemas.microsoft.com/office/drawing/2014/main" id="{A7950D4E-C93D-4C42-65D1-CCF36076B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24504">
              <a:defRPr sz="3476">
                <a:solidFill>
                  <a:srgbClr val="292929"/>
                </a:solidFill>
              </a:defRPr>
            </a:lvl1pPr>
          </a:lstStyle>
          <a:p>
            <a:r>
              <a:rPr sz="6300" dirty="0">
                <a:solidFill>
                  <a:srgbClr val="FFFFFF"/>
                </a:solidFill>
              </a:rPr>
              <a:t>Important note regarding </a:t>
            </a:r>
            <a:r>
              <a:rPr lang="en-GB" sz="6300" dirty="0">
                <a:solidFill>
                  <a:srgbClr val="FFFFFF"/>
                </a:solidFill>
              </a:rPr>
              <a:t>Student Declaration of Ownership</a:t>
            </a:r>
            <a:endParaRPr sz="6300" dirty="0">
              <a:solidFill>
                <a:srgbClr val="FFFFFF"/>
              </a:solidFill>
            </a:endParaRPr>
          </a:p>
        </p:txBody>
      </p:sp>
      <p:sp>
        <p:nvSpPr>
          <p:cNvPr id="167" name="Ulster University has updated its policy on maximum word counts…">
            <a:extLst>
              <a:ext uri="{FF2B5EF4-FFF2-40B4-BE49-F238E27FC236}">
                <a16:creationId xmlns:a16="http://schemas.microsoft.com/office/drawing/2014/main" id="{36C27B59-7AAC-02B3-0101-8E8BF3BA6163}"/>
              </a:ext>
            </a:extLst>
          </p:cNvPr>
          <p:cNvSpPr txBox="1"/>
          <p:nvPr/>
        </p:nvSpPr>
        <p:spPr>
          <a:xfrm>
            <a:off x="1222229" y="2303371"/>
            <a:ext cx="21851742" cy="10877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3578" tIns="53578" rIns="53578" bIns="53578"/>
          <a:lstStyle/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Ulster University has updated its policy on </a:t>
            </a:r>
            <a:r>
              <a:rPr lang="en-GB" sz="4200" dirty="0">
                <a:solidFill>
                  <a:srgbClr val="FFFFFF"/>
                </a:solidFill>
              </a:rPr>
              <a:t>academic integrity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Details have been made available to students by the University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It is important that you read and understand the policy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There is a new </a:t>
            </a:r>
            <a:r>
              <a:rPr lang="en-GB" sz="4200" i="1" dirty="0">
                <a:solidFill>
                  <a:srgbClr val="FFFFFF"/>
                </a:solidFill>
              </a:rPr>
              <a:t>Student Declaration of Ownership </a:t>
            </a:r>
            <a:r>
              <a:rPr lang="en-GB" sz="4200" dirty="0">
                <a:solidFill>
                  <a:srgbClr val="FFFFFF"/>
                </a:solidFill>
              </a:rPr>
              <a:t>that must be stated in submissions</a:t>
            </a:r>
            <a:endParaRPr sz="4200" dirty="0">
              <a:solidFill>
                <a:srgbClr val="FFFFFF"/>
              </a:solidFill>
            </a:endParaRP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720000" lvl="1" indent="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None/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i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“I declare that this is all my own work. Any material I have referred to has been accurately referenced and any contribution of Artificial Intelligence technology has been fully acknowledged. I understand the importance of academic integrity and have read and understood the University’s General Regulation: Student Academic Integrity and the Academic Misconduct Procedure. I understand that I must not upload my work before, during or after submission to any unapproved plagiarism detectors or answer sharing platforms, or equivalent, and that only University-approved platforms should be used.”</a:t>
            </a: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Further guidance on </a:t>
            </a:r>
            <a:r>
              <a:rPr lang="en-GB" sz="4200" dirty="0">
                <a:solidFill>
                  <a:srgbClr val="FFFFFF"/>
                </a:solidFill>
              </a:rPr>
              <a:t>academic integrity </a:t>
            </a:r>
            <a:r>
              <a:rPr sz="4200" dirty="0">
                <a:solidFill>
                  <a:srgbClr val="FFFFFF"/>
                </a:solidFill>
              </a:rPr>
              <a:t>available </a:t>
            </a:r>
            <a:r>
              <a:rPr lang="en-GB" sz="4200" dirty="0">
                <a:solidFill>
                  <a:srgbClr val="FFFFFF"/>
                </a:solidFill>
              </a:rPr>
              <a:t>on the University’s website</a:t>
            </a:r>
            <a:endParaRPr sz="4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35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BF12-8352-51A4-0E09-9BC08C20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3655554E-E411-8FE1-7290-A69F22569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EEE22-AEFC-36CB-55E5-9B54C2A81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Structured contents section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Presents document structure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Include page numbers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Consider automating this in your editing tool</a:t>
            </a:r>
          </a:p>
        </p:txBody>
      </p:sp>
    </p:spTree>
    <p:extLst>
      <p:ext uri="{BB962C8B-B14F-4D97-AF65-F5344CB8AC3E}">
        <p14:creationId xmlns:p14="http://schemas.microsoft.com/office/powerpoint/2010/main" val="377676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F615-E3DC-9B12-DFB7-A0030BC3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7FAAC770-B8F9-EFD8-6DC9-C1E44F001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Software Realisation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54AD3-F4EA-A0B1-A40E-CC23ADC27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/>
              <a:t>Implementation review, inc. rational for decisions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Challenges and achievement during implementation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Changes made, why were they made, and how they were managed</a:t>
            </a:r>
          </a:p>
          <a:p>
            <a:pPr lvl="0">
              <a:lnSpc>
                <a:spcPct val="100000"/>
              </a:lnSpc>
            </a:pPr>
            <a:endParaRPr lang="en-GB" dirty="0"/>
          </a:p>
          <a:p>
            <a:pPr lvl="0">
              <a:lnSpc>
                <a:spcPct val="100000"/>
              </a:lnSpc>
            </a:pPr>
            <a:r>
              <a:rPr lang="en-GB" dirty="0"/>
              <a:t>Review tool use that supported the development process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Processes used during implementation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Tools used to support those processes and implementation in general</a:t>
            </a:r>
          </a:p>
        </p:txBody>
      </p:sp>
    </p:spTree>
    <p:extLst>
      <p:ext uri="{BB962C8B-B14F-4D97-AF65-F5344CB8AC3E}">
        <p14:creationId xmlns:p14="http://schemas.microsoft.com/office/powerpoint/2010/main" val="36984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72D8-051F-BE05-B0E6-E6F95880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F72E6444-01A4-37A6-3B1C-609A2707D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Quality Assurance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A33B0-B555-3115-639D-4EE5DBDA2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Description of verification and validation activities</a:t>
            </a:r>
          </a:p>
          <a:p>
            <a:pPr lvl="1"/>
            <a:r>
              <a:rPr lang="en-GB" dirty="0"/>
              <a:t>How you ensured you the software would meet the specifications and designs</a:t>
            </a:r>
          </a:p>
          <a:p>
            <a:pPr lvl="1"/>
            <a:r>
              <a:rPr lang="en-GB" dirty="0"/>
              <a:t>How you ensured you software would address the aim of the project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Testing</a:t>
            </a:r>
          </a:p>
          <a:p>
            <a:pPr lvl="1"/>
            <a:r>
              <a:rPr lang="en-GB" dirty="0"/>
              <a:t>Describe the testing strategy employed and how it was managed</a:t>
            </a:r>
          </a:p>
          <a:p>
            <a:pPr lvl="1"/>
            <a:r>
              <a:rPr lang="en-GB" dirty="0"/>
              <a:t>Define the tests used during the various stages of development</a:t>
            </a:r>
          </a:p>
          <a:p>
            <a:pPr lvl="1"/>
            <a:r>
              <a:rPr lang="en-GB" dirty="0"/>
              <a:t>Detail the results from testing </a:t>
            </a:r>
          </a:p>
        </p:txBody>
      </p:sp>
    </p:spTree>
    <p:extLst>
      <p:ext uri="{BB962C8B-B14F-4D97-AF65-F5344CB8AC3E}">
        <p14:creationId xmlns:p14="http://schemas.microsoft.com/office/powerpoint/2010/main" val="159923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D157-AC40-10A1-08A0-85CCD160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C7C8203A-DC53-8C3D-97D5-218E10B74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Critical Appraisal 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A429E-2F47-A60F-D6E5-716FE75C3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/>
              <a:t>Evaluation of project outcomes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was achieved and what helped to achieve them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was not achieved and why and what could have been done differently</a:t>
            </a:r>
          </a:p>
          <a:p>
            <a:pPr lvl="0">
              <a:lnSpc>
                <a:spcPct val="100000"/>
              </a:lnSpc>
            </a:pPr>
            <a:r>
              <a:rPr lang="en-GB" dirty="0"/>
              <a:t>Review of plans and any deviations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plans were established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deviations occurred, why, and how were they managed </a:t>
            </a:r>
          </a:p>
          <a:p>
            <a:pPr lvl="0">
              <a:lnSpc>
                <a:spcPct val="100000"/>
              </a:lnSpc>
            </a:pPr>
            <a:r>
              <a:rPr lang="en-GB" dirty="0"/>
              <a:t>Evaluation of methodology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methodology was used and how did it support project delivery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Was it the right approach, and if not what might have been</a:t>
            </a:r>
          </a:p>
          <a:p>
            <a:pPr lvl="0">
              <a:lnSpc>
                <a:spcPct val="100000"/>
              </a:lnSpc>
            </a:pPr>
            <a:r>
              <a:rPr lang="en-GB" dirty="0"/>
              <a:t>Personal Development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have you learned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What personal development might you take forward from the project</a:t>
            </a:r>
          </a:p>
        </p:txBody>
      </p:sp>
    </p:spTree>
    <p:extLst>
      <p:ext uri="{BB962C8B-B14F-4D97-AF65-F5344CB8AC3E}">
        <p14:creationId xmlns:p14="http://schemas.microsoft.com/office/powerpoint/2010/main" val="54702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9084-A0A5-AD76-B3E6-B4B0BBFD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FDB985A8-3471-4153-FEAC-F0CF636F0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References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3F27CF-9918-581C-C615-CD6E6D0083E9}"/>
              </a:ext>
            </a:extLst>
          </p:cNvPr>
          <p:cNvSpPr txBox="1"/>
          <p:nvPr/>
        </p:nvSpPr>
        <p:spPr>
          <a:xfrm>
            <a:off x="7620000" y="896353"/>
            <a:ext cx="468558" cy="92278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3578" tIns="53578" rIns="53578" bIns="53578" numCol="1" spcCol="38100" rtlCol="0" anchor="ctr">
            <a:spAutoFit/>
          </a:bodyPr>
          <a:lstStyle/>
          <a:p>
            <a:pPr marL="357187" marR="0" indent="-357187" algn="l" defTabSz="821531" rtl="0" fontAlgn="auto" latinLnBrk="0" hangingPunct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404040"/>
              </a:buClr>
              <a:buSzPct val="75000"/>
              <a:buFontTx/>
              <a:buChar char="•"/>
              <a:tabLst/>
            </a:pP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7996D-4654-5D68-03C6-A75A405C7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All sources must be cited within the body of the report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The reference list should provide full references for all items cited. 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All references should be in the Harvard style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Acknowledge any use of Artificial Intelligence (AI)</a:t>
            </a:r>
          </a:p>
          <a:p>
            <a:pPr>
              <a:lnSpc>
                <a:spcPct val="150000"/>
              </a:lnSpc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Ensure your practice meets the University’s academic integrity policy requirements</a:t>
            </a:r>
          </a:p>
        </p:txBody>
      </p:sp>
    </p:spTree>
    <p:extLst>
      <p:ext uri="{BB962C8B-B14F-4D97-AF65-F5344CB8AC3E}">
        <p14:creationId xmlns:p14="http://schemas.microsoft.com/office/powerpoint/2010/main" val="308558243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083A-9DF5-DC12-7696-6BA263663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>
            <a:extLst>
              <a:ext uri="{FF2B5EF4-FFF2-40B4-BE49-F238E27FC236}">
                <a16:creationId xmlns:a16="http://schemas.microsoft.com/office/drawing/2014/main" id="{4C925C14-BF93-C62E-CDFA-3193567544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lang="en-GB" dirty="0">
                <a:solidFill>
                  <a:srgbClr val="FFFFFF"/>
                </a:solidFill>
              </a:rPr>
              <a:t>AT4 Appendices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72349-0CE7-AB27-FB06-08B41255F9A9}"/>
              </a:ext>
            </a:extLst>
          </p:cNvPr>
          <p:cNvSpPr txBox="1"/>
          <p:nvPr/>
        </p:nvSpPr>
        <p:spPr>
          <a:xfrm>
            <a:off x="7620000" y="896353"/>
            <a:ext cx="468558" cy="922784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3578" tIns="53578" rIns="53578" bIns="53578" numCol="1" spcCol="38100" rtlCol="0" anchor="ctr">
            <a:spAutoFit/>
          </a:bodyPr>
          <a:lstStyle/>
          <a:p>
            <a:pPr marL="357187" marR="0" indent="-357187" algn="l" defTabSz="821531" rtl="0" fontAlgn="auto" latinLnBrk="0" hangingPunct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404040"/>
              </a:buClr>
              <a:buSzPct val="75000"/>
              <a:buFontTx/>
              <a:buChar char="•"/>
              <a:tabLst/>
            </a:pP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28EE1-AF2F-07CD-119B-D6DD35704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4200">
                <a:solidFill>
                  <a:srgbClr val="ECECEC"/>
                </a:solidFill>
              </a:defRPr>
            </a:pPr>
            <a:r>
              <a:rPr lang="en-GB" dirty="0"/>
              <a:t>Code Manifest (</a:t>
            </a:r>
            <a:r>
              <a:rPr lang="en-GB" dirty="0">
                <a:solidFill>
                  <a:srgbClr val="FFFF00"/>
                </a:solidFill>
              </a:rPr>
              <a:t>required item</a:t>
            </a:r>
            <a:r>
              <a:rPr lang="en-GB" dirty="0"/>
              <a:t>)</a:t>
            </a:r>
          </a:p>
          <a:p>
            <a:pPr lvl="1">
              <a:defRPr sz="4200">
                <a:solidFill>
                  <a:srgbClr val="ECECEC"/>
                </a:solidFill>
              </a:defRPr>
            </a:pPr>
            <a:r>
              <a:rPr lang="en-GB" dirty="0"/>
              <a:t>A table that identifies the source code files you created or modified, and their purpose</a:t>
            </a:r>
          </a:p>
          <a:p>
            <a:pPr lvl="1">
              <a:defRPr sz="4200">
                <a:solidFill>
                  <a:srgbClr val="ECECEC"/>
                </a:solidFill>
              </a:defRPr>
            </a:pPr>
            <a:r>
              <a:rPr lang="en-GB" i="1" dirty="0"/>
              <a:t>States the name of the file, the nature of your contribution, and the purpose of the file</a:t>
            </a:r>
          </a:p>
          <a:p>
            <a:pPr lvl="1">
              <a:defRPr sz="4200">
                <a:solidFill>
                  <a:srgbClr val="ECECEC"/>
                </a:solidFill>
              </a:defRPr>
            </a:pPr>
            <a:r>
              <a:rPr lang="en-GB" i="1" dirty="0"/>
              <a:t>These should be the files submitted previously within the source code submission</a:t>
            </a:r>
          </a:p>
          <a:p>
            <a:pPr lvl="1">
              <a:defRPr sz="4200">
                <a:solidFill>
                  <a:srgbClr val="ECECEC"/>
                </a:solidFill>
              </a:defRPr>
            </a:pPr>
            <a:r>
              <a:rPr lang="en-GB" i="1" dirty="0"/>
              <a:t>All use of AI to create or modify code must be detailed in the Code Manifest</a:t>
            </a:r>
            <a:endParaRPr lang="en-GB" dirty="0"/>
          </a:p>
          <a:p>
            <a:pPr>
              <a:defRPr sz="4200">
                <a:solidFill>
                  <a:srgbClr val="ECECEC"/>
                </a:solidFill>
              </a:defRPr>
            </a:pPr>
            <a:endParaRPr lang="en-GB" dirty="0">
              <a:solidFill>
                <a:srgbClr val="FFFFFF"/>
              </a:solidFill>
            </a:endParaRPr>
          </a:p>
          <a:p>
            <a:pPr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Any additional lengthy items can be placed in an appendix</a:t>
            </a:r>
          </a:p>
          <a:p>
            <a:pPr marL="673624" lvl="3" indent="-364628">
              <a:buClr>
                <a:srgbClr val="ECECEC"/>
              </a:buClr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For example, full lists of requirements, further designs, additional tables, etc. </a:t>
            </a:r>
          </a:p>
          <a:p>
            <a:pPr lvl="1">
              <a:defRPr sz="4200">
                <a:solidFill>
                  <a:srgbClr val="ECECEC"/>
                </a:solidFill>
              </a:defRPr>
            </a:pPr>
            <a:r>
              <a:rPr lang="en-GB" dirty="0">
                <a:solidFill>
                  <a:srgbClr val="FFFFFF"/>
                </a:solidFill>
              </a:rPr>
              <a:t>However, include a few representative items in the report body to aid discussion 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 err="1">
                <a:solidFill>
                  <a:srgbClr val="FFFFFF"/>
                </a:solidFill>
              </a:rPr>
              <a:t>Organise</a:t>
            </a:r>
            <a:r>
              <a:rPr lang="en-US" dirty="0">
                <a:solidFill>
                  <a:srgbClr val="FFFFFF"/>
                </a:solidFill>
              </a:rPr>
              <a:t> appendices so you can refer to them in the main body of the report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Typically, put different types of material in separate appendices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For example, ”</a:t>
            </a:r>
            <a:r>
              <a:rPr lang="en-US" i="1" dirty="0">
                <a:solidFill>
                  <a:srgbClr val="FFFFFF"/>
                </a:solidFill>
              </a:rPr>
              <a:t>Appendix C – Test Results”</a:t>
            </a:r>
          </a:p>
        </p:txBody>
      </p:sp>
    </p:spTree>
    <p:extLst>
      <p:ext uri="{BB962C8B-B14F-4D97-AF65-F5344CB8AC3E}">
        <p14:creationId xmlns:p14="http://schemas.microsoft.com/office/powerpoint/2010/main" val="2070525604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310F-DC9F-9F2A-4391-E1DE229C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port format">
            <a:extLst>
              <a:ext uri="{FF2B5EF4-FFF2-40B4-BE49-F238E27FC236}">
                <a16:creationId xmlns:a16="http://schemas.microsoft.com/office/drawing/2014/main" id="{093EBAF8-05A9-58BB-64ED-292DC7F33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Report format</a:t>
            </a:r>
          </a:p>
        </p:txBody>
      </p:sp>
      <p:sp>
        <p:nvSpPr>
          <p:cNvPr id="107" name="The following is a guide to what works well. Staying close to it is highly recommended…">
            <a:extLst>
              <a:ext uri="{FF2B5EF4-FFF2-40B4-BE49-F238E27FC236}">
                <a16:creationId xmlns:a16="http://schemas.microsoft.com/office/drawing/2014/main" id="{71560A95-3F4F-6569-84FB-9CBB510AD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The report must be written and presented in a manner that allows assessment</a:t>
            </a:r>
          </a:p>
          <a:p>
            <a:r>
              <a:rPr lang="en-GB" dirty="0">
                <a:solidFill>
                  <a:srgbClr val="FFFFFF"/>
                </a:solidFill>
              </a:rPr>
              <a:t>It should be formatted in keeping with the advice provided in the handbook</a:t>
            </a:r>
          </a:p>
          <a:p>
            <a:r>
              <a:rPr lang="en-GB" dirty="0">
                <a:solidFill>
                  <a:srgbClr val="FFFFFF"/>
                </a:solidFill>
              </a:rPr>
              <a:t>The submitted file should follow the naming requirements and be submitted in PDF</a:t>
            </a:r>
          </a:p>
          <a:p>
            <a:r>
              <a:rPr lang="en-GB" dirty="0">
                <a:solidFill>
                  <a:srgbClr val="FFFFFF"/>
                </a:solidFill>
              </a:rPr>
              <a:t>Full details are given in the handbook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717617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AT2 Assessment &amp; Feedba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AT3 and AT4</a:t>
            </a:r>
            <a:r>
              <a:rPr dirty="0">
                <a:solidFill>
                  <a:schemeClr val="bg1">
                    <a:lumMod val="10000"/>
                  </a:schemeClr>
                </a:solidFill>
              </a:rPr>
              <a:t> Assessment &amp; Feedback</a:t>
            </a:r>
          </a:p>
        </p:txBody>
      </p:sp>
      <p:sp>
        <p:nvSpPr>
          <p:cNvPr id="115" name="Evidence based assessmen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dirty="0">
                <a:solidFill>
                  <a:schemeClr val="bg1">
                    <a:lumMod val="10000"/>
                  </a:schemeClr>
                </a:solidFill>
              </a:rPr>
              <a:t>Evidence based assessment</a:t>
            </a: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AT2 Report - High-level 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AT</a:t>
            </a:r>
            <a:r>
              <a:rPr lang="en-GB" dirty="0">
                <a:solidFill>
                  <a:srgbClr val="FFFFFF"/>
                </a:solidFill>
              </a:rPr>
              <a:t>3 and AT4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lang="en-GB" dirty="0">
                <a:solidFill>
                  <a:srgbClr val="FFFFFF"/>
                </a:solidFill>
              </a:rPr>
              <a:t>Assessment considerations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3" name="Describe the agreed concep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The format of the </a:t>
            </a:r>
            <a:r>
              <a:rPr lang="en-GB" dirty="0">
                <a:solidFill>
                  <a:srgbClr val="FFFFFF"/>
                </a:solidFill>
              </a:rPr>
              <a:t>video and </a:t>
            </a:r>
            <a:r>
              <a:rPr dirty="0">
                <a:solidFill>
                  <a:srgbClr val="FFFFFF"/>
                </a:solidFill>
              </a:rPr>
              <a:t>report must be in keeping with the guidance provided </a:t>
            </a:r>
          </a:p>
          <a:p>
            <a:pPr lvl="1"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lang="en-GB" dirty="0">
                <a:solidFill>
                  <a:srgbClr val="FFFFFF"/>
                </a:solidFill>
              </a:rPr>
              <a:t>y must be </a:t>
            </a:r>
            <a:r>
              <a:rPr dirty="0">
                <a:solidFill>
                  <a:srgbClr val="FFFFFF"/>
                </a:solidFill>
              </a:rPr>
              <a:t>presented in a manner that allows assessment</a:t>
            </a:r>
          </a:p>
          <a:p>
            <a:pPr lvl="1">
              <a:lnSpc>
                <a:spcPct val="150000"/>
              </a:lnSpc>
            </a:pPr>
            <a:r>
              <a:rPr dirty="0">
                <a:solidFill>
                  <a:srgbClr val="FFFFFF"/>
                </a:solidFill>
              </a:rPr>
              <a:t>Please see the associated </a:t>
            </a:r>
            <a:r>
              <a:rPr lang="en-GB" dirty="0">
                <a:solidFill>
                  <a:srgbClr val="FFFFFF"/>
                </a:solidFill>
              </a:rPr>
              <a:t>h</a:t>
            </a:r>
            <a:r>
              <a:rPr dirty="0" err="1">
                <a:solidFill>
                  <a:srgbClr val="FFFFFF"/>
                </a:solidFill>
              </a:rPr>
              <a:t>andbook</a:t>
            </a:r>
            <a:r>
              <a:rPr dirty="0">
                <a:solidFill>
                  <a:srgbClr val="FFFFFF"/>
                </a:solidFill>
              </a:rPr>
              <a:t> sections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 further guidance</a:t>
            </a:r>
          </a:p>
        </p:txBody>
      </p:sp>
    </p:spTree>
    <p:extLst>
      <p:ext uri="{BB962C8B-B14F-4D97-AF65-F5344CB8AC3E}">
        <p14:creationId xmlns:p14="http://schemas.microsoft.com/office/powerpoint/2010/main" val="127194540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84A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53058-0F96-C3B1-5D5E-5050C809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Important note regarding maximum word counts">
            <a:extLst>
              <a:ext uri="{FF2B5EF4-FFF2-40B4-BE49-F238E27FC236}">
                <a16:creationId xmlns:a16="http://schemas.microsoft.com/office/drawing/2014/main" id="{A94739D5-59EA-8F9A-6F1C-33D12383E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24504">
              <a:defRPr sz="3476">
                <a:solidFill>
                  <a:srgbClr val="292929"/>
                </a:solidFill>
              </a:defRPr>
            </a:lvl1pPr>
          </a:lstStyle>
          <a:p>
            <a:r>
              <a:rPr sz="6300" dirty="0">
                <a:solidFill>
                  <a:srgbClr val="FFFFFF"/>
                </a:solidFill>
              </a:rPr>
              <a:t>Important note regarding </a:t>
            </a:r>
            <a:r>
              <a:rPr lang="en-GB" sz="6300" dirty="0">
                <a:solidFill>
                  <a:srgbClr val="FFFFFF"/>
                </a:solidFill>
              </a:rPr>
              <a:t>Academic Misconduct</a:t>
            </a:r>
            <a:endParaRPr sz="6300" dirty="0">
              <a:solidFill>
                <a:srgbClr val="FFFFFF"/>
              </a:solidFill>
            </a:endParaRPr>
          </a:p>
        </p:txBody>
      </p:sp>
      <p:sp>
        <p:nvSpPr>
          <p:cNvPr id="167" name="Ulster University has updated its policy on maximum word counts…">
            <a:extLst>
              <a:ext uri="{FF2B5EF4-FFF2-40B4-BE49-F238E27FC236}">
                <a16:creationId xmlns:a16="http://schemas.microsoft.com/office/drawing/2014/main" id="{8D0C75A0-7F05-6583-93D0-9B64D8171E80}"/>
              </a:ext>
            </a:extLst>
          </p:cNvPr>
          <p:cNvSpPr txBox="1"/>
          <p:nvPr/>
        </p:nvSpPr>
        <p:spPr>
          <a:xfrm>
            <a:off x="1222229" y="2303371"/>
            <a:ext cx="21851742" cy="10877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3578" tIns="53578" rIns="53578" bIns="53578"/>
          <a:lstStyle/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Ulster University has updated its policy on </a:t>
            </a:r>
            <a:r>
              <a:rPr lang="en-GB" sz="4200" dirty="0">
                <a:solidFill>
                  <a:srgbClr val="FFFFFF"/>
                </a:solidFill>
              </a:rPr>
              <a:t>academic integrity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Details have been made available to students by the University</a:t>
            </a:r>
          </a:p>
          <a:p>
            <a:pPr marL="715791" lvl="3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</a:rPr>
              <a:t>It is important that you read and understand the policy</a:t>
            </a:r>
          </a:p>
          <a:p>
            <a:pPr marL="347264" indent="-347264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Proper citation and referencing is critical</a:t>
            </a:r>
          </a:p>
          <a:p>
            <a:pPr marL="822097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Failure to properly acknowledge the work of others is academic misconduct</a:t>
            </a:r>
          </a:p>
          <a:p>
            <a:pPr marL="822097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Failure to properly acknowledge use of AI is academic misconduct</a:t>
            </a:r>
          </a:p>
          <a:p>
            <a:pPr marL="822097" lvl="3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Academic misconduct offences can result in you failing the associated piece of work. </a:t>
            </a: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GB" sz="42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If in doubt about any aspect of this, consult the resources the University has provided and discuss them with your Mentor</a:t>
            </a: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GB" sz="4200" dirty="0">
              <a:solidFill>
                <a:srgbClr val="FFFFFF"/>
              </a:solidFill>
            </a:endParaRPr>
          </a:p>
          <a:p>
            <a:pPr marL="453570" lvl="2" indent="-453570" defTabSz="821530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defRPr sz="2000">
                <a:solidFill>
                  <a:srgbClr val="29292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4200" dirty="0">
                <a:solidFill>
                  <a:srgbClr val="FFFFFF"/>
                </a:solidFill>
              </a:rPr>
              <a:t>Further guidance on </a:t>
            </a:r>
            <a:r>
              <a:rPr lang="en-GB" sz="4200" dirty="0">
                <a:solidFill>
                  <a:srgbClr val="FFFFFF"/>
                </a:solidFill>
              </a:rPr>
              <a:t>academic integrity </a:t>
            </a:r>
            <a:r>
              <a:rPr sz="4200" dirty="0">
                <a:solidFill>
                  <a:srgbClr val="FFFFFF"/>
                </a:solidFill>
              </a:rPr>
              <a:t>available </a:t>
            </a:r>
            <a:r>
              <a:rPr lang="en-GB" sz="4200" dirty="0">
                <a:solidFill>
                  <a:srgbClr val="FFFFFF"/>
                </a:solidFill>
              </a:rPr>
              <a:t>on the University’s website</a:t>
            </a:r>
            <a:endParaRPr sz="4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2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ssess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Assessment</a:t>
            </a:r>
            <a:r>
              <a:rPr lang="en-GB" dirty="0">
                <a:solidFill>
                  <a:srgbClr val="FFFFFF"/>
                </a:solidFill>
              </a:rPr>
              <a:t> – AT3 Demonstration Video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8" name="AT2 is assessed at 30% of the module…"/>
          <p:cNvSpPr txBox="1">
            <a:spLocks noGrp="1"/>
          </p:cNvSpPr>
          <p:nvPr>
            <p:ph type="body" sz="half" idx="1"/>
          </p:nvPr>
        </p:nvSpPr>
        <p:spPr>
          <a:xfrm>
            <a:off x="1270001" y="2303859"/>
            <a:ext cx="10921999" cy="9108282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Maximum duration is 15 minutes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AT</a:t>
            </a:r>
            <a:r>
              <a:rPr lang="en-GB" dirty="0">
                <a:solidFill>
                  <a:srgbClr val="FFFFFF"/>
                </a:solidFill>
              </a:rPr>
              <a:t>3</a:t>
            </a:r>
            <a:r>
              <a:rPr dirty="0">
                <a:solidFill>
                  <a:srgbClr val="FFFFFF"/>
                </a:solidFill>
              </a:rPr>
              <a:t> is assessed at </a:t>
            </a:r>
            <a:r>
              <a:rPr lang="en-GB" dirty="0">
                <a:solidFill>
                  <a:srgbClr val="FFFFFF"/>
                </a:solidFill>
              </a:rPr>
              <a:t>25</a:t>
            </a:r>
            <a:r>
              <a:rPr dirty="0">
                <a:solidFill>
                  <a:srgbClr val="FFFFFF"/>
                </a:solidFill>
              </a:rPr>
              <a:t>% of the module</a:t>
            </a:r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It is a required deliverable and must be submitted to pass the module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Assessment is agreed by your Mentor and your allocated marker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The </a:t>
            </a:r>
            <a:r>
              <a:rPr lang="en-GB" dirty="0">
                <a:solidFill>
                  <a:srgbClr val="FFFFFF"/>
                </a:solidFill>
              </a:rPr>
              <a:t>h</a:t>
            </a:r>
            <a:r>
              <a:rPr dirty="0" err="1">
                <a:solidFill>
                  <a:srgbClr val="FFFFFF"/>
                </a:solidFill>
              </a:rPr>
              <a:t>andbook</a:t>
            </a:r>
            <a:r>
              <a:rPr dirty="0">
                <a:solidFill>
                  <a:srgbClr val="FFFFFF"/>
                </a:solidFill>
              </a:rPr>
              <a:t> has details of the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what is expected, including a marking rubric</a:t>
            </a:r>
          </a:p>
        </p:txBody>
      </p:sp>
      <p:graphicFrame>
        <p:nvGraphicFramePr>
          <p:cNvPr id="119" name="Table 1"/>
          <p:cNvGraphicFramePr/>
          <p:nvPr>
            <p:extLst>
              <p:ext uri="{D42A27DB-BD31-4B8C-83A1-F6EECF244321}">
                <p14:modId xmlns:p14="http://schemas.microsoft.com/office/powerpoint/2010/main" val="3442238642"/>
              </p:ext>
            </p:extLst>
          </p:nvPr>
        </p:nvGraphicFramePr>
        <p:xfrm>
          <a:off x="13456345" y="2303859"/>
          <a:ext cx="9657654" cy="5377174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2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252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44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Assessment Criteria</a:t>
                      </a: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44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Marks</a:t>
                      </a: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246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Functional Walkthrough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45%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6473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Code Walkthrough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50%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0575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Communication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5%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377587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40C7-8457-3BA8-BD53-D2B9BECE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ssessment">
            <a:extLst>
              <a:ext uri="{FF2B5EF4-FFF2-40B4-BE49-F238E27FC236}">
                <a16:creationId xmlns:a16="http://schemas.microsoft.com/office/drawing/2014/main" id="{E200AB2E-4B20-96A1-D240-1DCE830E74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 dirty="0">
                <a:solidFill>
                  <a:srgbClr val="FFFFFF"/>
                </a:solidFill>
              </a:rPr>
              <a:t>Assessment</a:t>
            </a:r>
            <a:r>
              <a:rPr lang="en-GB" dirty="0">
                <a:solidFill>
                  <a:srgbClr val="FFFFFF"/>
                </a:solidFill>
              </a:rPr>
              <a:t> – AT4 Project Review Report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8" name="AT2 is assessed at 30% of the module…">
            <a:extLst>
              <a:ext uri="{FF2B5EF4-FFF2-40B4-BE49-F238E27FC236}">
                <a16:creationId xmlns:a16="http://schemas.microsoft.com/office/drawing/2014/main" id="{6D0909DF-0857-47D2-6944-8F706D7EC509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1270001" y="2303859"/>
            <a:ext cx="10921999" cy="9108282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Maximum word count 2400 words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AT</a:t>
            </a:r>
            <a:r>
              <a:rPr lang="en-GB" dirty="0">
                <a:solidFill>
                  <a:srgbClr val="FFFFFF"/>
                </a:solidFill>
              </a:rPr>
              <a:t>4</a:t>
            </a:r>
            <a:r>
              <a:rPr dirty="0">
                <a:solidFill>
                  <a:srgbClr val="FFFFFF"/>
                </a:solidFill>
              </a:rPr>
              <a:t> is assessed at </a:t>
            </a:r>
            <a:r>
              <a:rPr lang="en-GB" dirty="0">
                <a:solidFill>
                  <a:srgbClr val="FFFFFF"/>
                </a:solidFill>
              </a:rPr>
              <a:t>30</a:t>
            </a:r>
            <a:r>
              <a:rPr dirty="0">
                <a:solidFill>
                  <a:srgbClr val="FFFFFF"/>
                </a:solidFill>
              </a:rPr>
              <a:t>% of the module</a:t>
            </a:r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It is a required deliverable and must be submitted to pass the module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Assessment is agreed by your Mentor and your allocated marker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The </a:t>
            </a:r>
            <a:r>
              <a:rPr lang="en-GB" dirty="0">
                <a:solidFill>
                  <a:srgbClr val="FFFFFF"/>
                </a:solidFill>
              </a:rPr>
              <a:t>h</a:t>
            </a:r>
            <a:r>
              <a:rPr dirty="0" err="1">
                <a:solidFill>
                  <a:srgbClr val="FFFFFF"/>
                </a:solidFill>
              </a:rPr>
              <a:t>andbook</a:t>
            </a:r>
            <a:r>
              <a:rPr dirty="0">
                <a:solidFill>
                  <a:srgbClr val="FFFFFF"/>
                </a:solidFill>
              </a:rPr>
              <a:t> has details of the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what is expected, including a marking rubric</a:t>
            </a:r>
          </a:p>
        </p:txBody>
      </p:sp>
      <p:graphicFrame>
        <p:nvGraphicFramePr>
          <p:cNvPr id="119" name="Table 1">
            <a:extLst>
              <a:ext uri="{FF2B5EF4-FFF2-40B4-BE49-F238E27FC236}">
                <a16:creationId xmlns:a16="http://schemas.microsoft.com/office/drawing/2014/main" id="{B4D47AAE-914A-D99A-5982-FB819631D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3952211"/>
              </p:ext>
            </p:extLst>
          </p:nvPr>
        </p:nvGraphicFramePr>
        <p:xfrm>
          <a:off x="13456345" y="2303859"/>
          <a:ext cx="9657654" cy="6923647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2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252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44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Assessment Criteria</a:t>
                      </a: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44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Marks</a:t>
                      </a: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246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Software Realisation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25%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6473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Quality Assurance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30%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473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Critical Appraisal 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40%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0575">
                <a:tc>
                  <a:txBody>
                    <a:bodyPr/>
                    <a:lstStyle/>
                    <a:p>
                      <a:pPr algn="l"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Communication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90000"/>
                        </a:lnSpc>
                        <a:tabLst>
                          <a:tab pos="16383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GB" sz="3800" dirty="0">
                          <a:solidFill>
                            <a:srgbClr val="FFFFFF"/>
                          </a:solidFill>
                          <a:effectLst>
                            <a:outerShdw blurRad="38100" dist="63500" dir="5400000" rotWithShape="0">
                              <a:srgbClr val="000000">
                                <a:alpha val="48275"/>
                              </a:srgbClr>
                            </a:outerShdw>
                          </a:effectLst>
                          <a:sym typeface="Helvetica Neue Light"/>
                        </a:rPr>
                        <a:t>5%</a:t>
                      </a:r>
                      <a:endParaRPr sz="3800" dirty="0">
                        <a:solidFill>
                          <a:srgbClr val="FFFFFF"/>
                        </a:solidFill>
                        <a:effectLst>
                          <a:outerShdw blurRad="38100" dist="63500" dir="5400000" rotWithShape="0">
                            <a:srgbClr val="000000">
                              <a:alpha val="48275"/>
                            </a:srgbClr>
                          </a:outerShdw>
                        </a:effectLst>
                        <a:sym typeface="Helvetica Neue Light"/>
                      </a:endParaRPr>
                    </a:p>
                  </a:txBody>
                  <a:tcPr marL="137160" marR="137160" marT="137160" marB="1371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3775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417548"/>
      </p:ext>
    </p:extLst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eedba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640794">
              <a:defRPr sz="7019"/>
            </a:lvl1pPr>
          </a:lstStyle>
          <a:p>
            <a:r>
              <a:rPr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22" name="Written feedback is agreed by your Mentor and your mark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Written feedback is agreed by your Mentor and your </a:t>
            </a:r>
            <a:r>
              <a:rPr lang="en-GB" dirty="0">
                <a:solidFill>
                  <a:srgbClr val="FFFFFF"/>
                </a:solidFill>
              </a:rPr>
              <a:t>M</a:t>
            </a:r>
            <a:r>
              <a:rPr dirty="0" err="1">
                <a:solidFill>
                  <a:srgbClr val="FFFFFF"/>
                </a:solidFill>
              </a:rPr>
              <a:t>arker</a:t>
            </a:r>
            <a:endParaRPr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Feedback </a:t>
            </a:r>
            <a:r>
              <a:rPr dirty="0">
                <a:solidFill>
                  <a:srgbClr val="FFFFFF"/>
                </a:solidFill>
              </a:rPr>
              <a:t>will be returned </a:t>
            </a:r>
            <a:r>
              <a:rPr lang="en-GB" dirty="0">
                <a:solidFill>
                  <a:srgbClr val="FFFFFF"/>
                </a:solidFill>
              </a:rPr>
              <a:t>within 20 working days, </a:t>
            </a:r>
            <a:r>
              <a:rPr dirty="0">
                <a:solidFill>
                  <a:srgbClr val="FFFFFF"/>
                </a:solidFill>
              </a:rPr>
              <a:t>in keeping with University </a:t>
            </a:r>
            <a:r>
              <a:rPr lang="en-GB" dirty="0">
                <a:solidFill>
                  <a:srgbClr val="FFFFFF"/>
                </a:solidFill>
              </a:rPr>
              <a:t>policy</a:t>
            </a:r>
          </a:p>
          <a:p>
            <a:r>
              <a:rPr dirty="0">
                <a:solidFill>
                  <a:srgbClr val="FFFFFF"/>
                </a:solidFill>
              </a:rPr>
              <a:t>On receipt, arrange a meeting with your Mentor to discuss </a:t>
            </a:r>
            <a:r>
              <a:rPr lang="en-GB" dirty="0">
                <a:solidFill>
                  <a:srgbClr val="FFFFFF"/>
                </a:solidFill>
              </a:rPr>
              <a:t>your performance</a:t>
            </a:r>
            <a:endParaRPr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All marks and feedback are communicated on Blackboard</a:t>
            </a: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OM668 Assessment Overview - AT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8500" dirty="0">
                <a:solidFill>
                  <a:schemeClr val="bg1">
                    <a:lumMod val="10000"/>
                  </a:schemeClr>
                </a:solidFill>
              </a:rPr>
              <a:t>COM668 </a:t>
            </a:r>
            <a:r>
              <a:rPr sz="8500" dirty="0">
                <a:solidFill>
                  <a:schemeClr val="bg1">
                    <a:lumMod val="10000"/>
                  </a:schemeClr>
                </a:solidFill>
              </a:rPr>
              <a:t>Assessment Overview</a:t>
            </a:r>
            <a:r>
              <a:rPr lang="en-GB" sz="8500" dirty="0">
                <a:solidFill>
                  <a:schemeClr val="bg1">
                    <a:lumMod val="10000"/>
                  </a:schemeClr>
                </a:solidFill>
              </a:rPr>
              <a:t> – AT3 &amp; AT4</a:t>
            </a:r>
            <a:endParaRPr sz="85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5" name="Any question?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1"/>
            <a:r>
              <a:rPr lang="en-GB" dirty="0">
                <a:solidFill>
                  <a:schemeClr val="bg1">
                    <a:lumMod val="10000"/>
                  </a:schemeClr>
                </a:solidFill>
              </a:rPr>
              <a:t>Any questions?</a:t>
            </a:r>
          </a:p>
        </p:txBody>
      </p:sp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Industrial">
  <a:themeElements>
    <a:clrScheme name="Industrial">
      <a:dk1>
        <a:srgbClr val="E6E6E6"/>
      </a:dk1>
      <a:lt1>
        <a:srgbClr val="76B74B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3578" tIns="53578" rIns="53578" bIns="53578" numCol="1" spcCol="38100" rtlCol="0" anchor="ctr">
        <a:spAutoFit/>
      </a:bodyPr>
      <a:lstStyle>
        <a:defPPr marL="357187" marR="0" indent="-357187" algn="l" defTabSz="821531" rtl="0" fontAlgn="auto" latinLnBrk="0" hangingPunct="0">
          <a:lnSpc>
            <a:spcPct val="110000"/>
          </a:lnSpc>
          <a:spcBef>
            <a:spcPts val="1600"/>
          </a:spcBef>
          <a:spcAft>
            <a:spcPts val="0"/>
          </a:spcAft>
          <a:buClr>
            <a:srgbClr val="404040"/>
          </a:buClr>
          <a:buSzPct val="75000"/>
          <a:buFontTx/>
          <a:buChar char="•"/>
          <a:tabLst/>
          <a:defRPr kumimoji="0" sz="3600" b="0" i="0" u="none" strike="noStrike" cap="none" spc="0" normalizeH="0" baseline="0">
            <a:ln>
              <a:noFill/>
            </a:ln>
            <a:solidFill>
              <a:srgbClr val="76B74B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3578" tIns="53578" rIns="53578" bIns="53578" numCol="1" spcCol="38100" rtlCol="0" anchor="ctr">
        <a:spAutoFit/>
      </a:bodyPr>
      <a:lstStyle>
        <a:defPPr marL="357187" marR="0" indent="-357187" algn="l" defTabSz="821531" rtl="0" fontAlgn="auto" latinLnBrk="0" hangingPunct="0">
          <a:lnSpc>
            <a:spcPct val="110000"/>
          </a:lnSpc>
          <a:spcBef>
            <a:spcPts val="1600"/>
          </a:spcBef>
          <a:spcAft>
            <a:spcPts val="0"/>
          </a:spcAft>
          <a:buClr>
            <a:srgbClr val="404040"/>
          </a:buClr>
          <a:buSzPct val="75000"/>
          <a:buFontTx/>
          <a:buChar char="•"/>
          <a:tabLst/>
          <a:defRPr kumimoji="0" sz="3600" b="0" i="0" u="none" strike="noStrike" cap="none" spc="0" normalizeH="0" baseline="0">
            <a:ln>
              <a:noFill/>
            </a:ln>
            <a:solidFill>
              <a:srgbClr val="76B74B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3578" tIns="53578" rIns="53578" bIns="53578" numCol="1" spcCol="38100" rtlCol="0" anchor="ctr">
        <a:spAutoFit/>
      </a:bodyPr>
      <a:lstStyle>
        <a:defPPr marL="357187" marR="0" indent="-357187" algn="l" defTabSz="821531" rtl="0" fontAlgn="auto" latinLnBrk="0" hangingPunct="0">
          <a:lnSpc>
            <a:spcPct val="110000"/>
          </a:lnSpc>
          <a:spcBef>
            <a:spcPts val="1600"/>
          </a:spcBef>
          <a:spcAft>
            <a:spcPts val="0"/>
          </a:spcAft>
          <a:buClr>
            <a:srgbClr val="404040"/>
          </a:buClr>
          <a:buSzPct val="75000"/>
          <a:buFontTx/>
          <a:buChar char="•"/>
          <a:tabLst/>
          <a:defRPr kumimoji="0" sz="3600" b="0" i="0" u="none" strike="noStrike" cap="none" spc="0" normalizeH="0" baseline="0">
            <a:ln>
              <a:noFill/>
            </a:ln>
            <a:solidFill>
              <a:srgbClr val="76B74B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53578" tIns="53578" rIns="53578" bIns="53578" numCol="1" spcCol="38100" rtlCol="0" anchor="ctr">
        <a:spAutoFit/>
      </a:bodyPr>
      <a:lstStyle>
        <a:defPPr marL="357187" marR="0" indent="-357187" algn="l" defTabSz="821531" rtl="0" fontAlgn="auto" latinLnBrk="0" hangingPunct="0">
          <a:lnSpc>
            <a:spcPct val="110000"/>
          </a:lnSpc>
          <a:spcBef>
            <a:spcPts val="1600"/>
          </a:spcBef>
          <a:spcAft>
            <a:spcPts val="0"/>
          </a:spcAft>
          <a:buClr>
            <a:srgbClr val="404040"/>
          </a:buClr>
          <a:buSzPct val="75000"/>
          <a:buFontTx/>
          <a:buChar char="•"/>
          <a:tabLst/>
          <a:defRPr kumimoji="0" sz="3600" b="0" i="0" u="none" strike="noStrike" cap="none" spc="0" normalizeH="0" baseline="0">
            <a:ln>
              <a:noFill/>
            </a:ln>
            <a:solidFill>
              <a:srgbClr val="76B74B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463</TotalTime>
  <Words>2085</Words>
  <Application>Microsoft Macintosh PowerPoint</Application>
  <PresentationFormat>Custom</PresentationFormat>
  <Paragraphs>281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Helvetica Neue</vt:lpstr>
      <vt:lpstr>Helvetica Neue Light</vt:lpstr>
      <vt:lpstr>Lucida Grande</vt:lpstr>
      <vt:lpstr>Industrial</vt:lpstr>
      <vt:lpstr>COM668 Assessment Overview – AT3 &amp; AT4</vt:lpstr>
      <vt:lpstr>Overview</vt:lpstr>
      <vt:lpstr>You are here</vt:lpstr>
      <vt:lpstr>Progress to-date</vt:lpstr>
      <vt:lpstr>Important note regarding changes to project</vt:lpstr>
      <vt:lpstr>Continued progress</vt:lpstr>
      <vt:lpstr>AT3 Software Demonstration Video</vt:lpstr>
      <vt:lpstr>AT3 Software Demonstration Video – Purpose</vt:lpstr>
      <vt:lpstr>AT3 Video – Content and Structure</vt:lpstr>
      <vt:lpstr>AT3 Introduction</vt:lpstr>
      <vt:lpstr>AT3 Software Demonstration</vt:lpstr>
      <vt:lpstr>AT3 Code Walkthrough</vt:lpstr>
      <vt:lpstr>AT3 Conclusion</vt:lpstr>
      <vt:lpstr>AT3 Video Format</vt:lpstr>
      <vt:lpstr>Source Code Submission</vt:lpstr>
      <vt:lpstr>AT4 Project Review Report</vt:lpstr>
      <vt:lpstr>AT4 Report – Purpose</vt:lpstr>
      <vt:lpstr>AT4 Report Content and Structure</vt:lpstr>
      <vt:lpstr>AT4 Title Page</vt:lpstr>
      <vt:lpstr>Important note regarding maximum word counts</vt:lpstr>
      <vt:lpstr>Important note regarding Student Declaration of Ownership</vt:lpstr>
      <vt:lpstr>AT4 Contents</vt:lpstr>
      <vt:lpstr>AT4 Software Realisation</vt:lpstr>
      <vt:lpstr>AT4 Quality Assurance</vt:lpstr>
      <vt:lpstr>AT4 Critical Appraisal </vt:lpstr>
      <vt:lpstr>AT4 References</vt:lpstr>
      <vt:lpstr>AT4 Appendices</vt:lpstr>
      <vt:lpstr>Report format</vt:lpstr>
      <vt:lpstr>AT3 and AT4 Assessment &amp; Feedback</vt:lpstr>
      <vt:lpstr>AT3 and AT4 Assessment considerations</vt:lpstr>
      <vt:lpstr>Important note regarding Academic Misconduct</vt:lpstr>
      <vt:lpstr>Assessment – AT3 Demonstration Video</vt:lpstr>
      <vt:lpstr>Assessment – AT4 Project Review Report</vt:lpstr>
      <vt:lpstr>Feedback</vt:lpstr>
      <vt:lpstr>COM668 Assessment Overview – AT3 &amp; AT4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Moore, George</cp:lastModifiedBy>
  <cp:revision>1</cp:revision>
  <dcterms:modified xsi:type="dcterms:W3CDTF">2026-02-10T10:27:27Z</dcterms:modified>
</cp:coreProperties>
</file>